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1260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1059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Kurz vorstellen: Name, Thema, Modul. Ein Satz zum Einstieg: In meiner Literaturarbeit geht es darum, wie Sicherheit durch automatisierte Tests direkt in den Entwicklungsprozess eingebaut werden kann. Nicht zu lange auf der Titelfolie bleiben (ca. 15 Sekunden).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Erzähle die drei Punkte in eigenen Worten. Betonung: Tempo steigt, aber Sicherheit hinkt oft hinterher. Die rechte Box ist deine Überleitung zur Forschungsfrage: Sicherheit muss früh, regelmäßig und automatisiert passieren.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Lies die Forschungsfrage einmal langsam vor – sie ist der rote Faden. Die drei Chips unten sind deine Teilfragen und gleichzeitig die Struktur des restlichen Vortrags. So weiß das Publikum, was kommt.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Kernbotschaft in EINEM Satz: DevSecOps ersetzt DevOps nicht, es erweitert es um Sicherheit. Shift Left = Prüfungen früher. Wichtig zu betonen (mögliche Prüfungsfrage!): DevSecOps ist nicht nur ein Tool, sondern auch Zusammenarbeit, Rollen und Prozesse.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 ist deine wichtigste Folie – dein Bild aus der Arbeit. Gehe die fünf Phasen von links nach rechts durch und nenne je EINE typische Prüfung. Merksatz: früh = Secret Scan &amp; SAST, Build = Dependencies, später = DAST, vor Deployment = Container Scan. Zusatzpunkt (gern erwähnen): Die Pipeline selbst muss auch abgesichert werden.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Nicht alle fünf lang erklären! Je Karte ein Satz: was wird geprüft. Merke den Unterschied SAST vs DAST auswendig (häufige Prüfungsfrage): SAST = ruhender Code ohne Ausführung, DAST = laufende Anwendung von außen. Wenn gefragt wird warum nicht mehr Testarten (IAST, Fuzzing, IaC): bewusste Eingrenzung auf die fünf, die am häufigsten zu CI/CD genannt werden.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Vier Vorteile, je ein kurzer Satz. Betone 'frühere Erkennung' und 'Zusammenarbeit' – das sind die Punkte, die auch die Literatur (Rajapakse, OWASP) hervorhebt. Nicht ablesen, frei sprechen.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Ehrlich bleiben: DevSecOps löst nicht automatisch alles. Der wichtigste Punkt für die Diskussion ist der letzte: Tools ersetzen keine menschliche Bewertung. Bereite ein Beispiel vor: Secret Scanning = klarer Fund, aber Architektur-/Rechtekonzept braucht menschliche Bewertung.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Schließe mit der direkten Antwort auf die Forschungsfrage. Nenne die Reihenfolge der Tests noch einmal (das ist dein Kernergebnis). Erwähne die Grenze aktiv, BEVOR gefragt wird – wirkt souverän. Dann Übergang zur Diskussion. Vorbereitete Fragen: (1) Warum keine Praxis? (2) SAST vs DAST? (3) Warum kein Test allein reicht? (4) Ist Shift Left immer besser? – nein, kostet Entwicklerzeit, manche Probleme sieht man erst zur Laufzeit.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97135" y="4846320"/>
            <a:ext cx="3291840" cy="3291840"/>
          </a:xfrm>
          <a:prstGeom prst="ellipse">
            <a:avLst/>
          </a:prstGeom>
          <a:solidFill>
            <a:srgbClr val="0E7BA6">
              <a:alpha val="14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8762695" y="457200"/>
            <a:ext cx="347472" cy="347472"/>
          </a:xfrm>
          <a:prstGeom prst="ellipse">
            <a:avLst/>
          </a:prstGeom>
          <a:solidFill>
            <a:srgbClr val="0F2A43"/>
          </a:solidFill>
          <a:ln w="27146">
            <a:solidFill>
              <a:srgbClr val="0E7BA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9170975" y="457200"/>
            <a:ext cx="347472" cy="347472"/>
          </a:xfrm>
          <a:prstGeom prst="ellipse">
            <a:avLst/>
          </a:prstGeom>
          <a:solidFill>
            <a:srgbClr val="0E7BA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9631375" y="379019"/>
            <a:ext cx="2258568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9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Hochschule</a:t>
            </a:r>
            <a:endParaRPr lang="en-US" sz="998" dirty="0"/>
          </a:p>
          <a:p>
            <a:pPr marL="0" indent="0">
              <a:lnSpc>
                <a:spcPct val="95000"/>
              </a:lnSpc>
              <a:buNone/>
            </a:pPr>
            <a:r>
              <a:rPr lang="en-US" sz="99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Bonn-Rhein-Sieg</a:t>
            </a:r>
            <a:endParaRPr lang="en-US" sz="998" dirty="0"/>
          </a:p>
          <a:p>
            <a:pPr marL="0" indent="0">
              <a:lnSpc>
                <a:spcPct val="95000"/>
              </a:lnSpc>
              <a:buNone/>
            </a:pPr>
            <a:r>
              <a:rPr lang="en-US" sz="665" dirty="0">
                <a:solidFill>
                  <a:srgbClr val="A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Applied Sciences</a:t>
            </a:r>
            <a:endParaRPr lang="en-US" sz="998" dirty="0"/>
          </a:p>
        </p:txBody>
      </p:sp>
      <p:sp>
        <p:nvSpPr>
          <p:cNvPr id="6" name="Shape 4"/>
          <p:cNvSpPr/>
          <p:nvPr/>
        </p:nvSpPr>
        <p:spPr>
          <a:xfrm>
            <a:off x="822960" y="1371600"/>
            <a:ext cx="1051560" cy="1051560"/>
          </a:xfrm>
          <a:prstGeom prst="ellipse">
            <a:avLst/>
          </a:prstGeom>
          <a:solidFill>
            <a:srgbClr val="0E7BA6"/>
          </a:solidFill>
          <a:ln/>
          <a:effectLst>
            <a:outerShdw blurRad="88900" dist="25400" dir="5400000" algn="bl" rotWithShape="0">
              <a:srgbClr val="0B2338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366" y="1645006"/>
            <a:ext cx="504749" cy="50474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148840" y="14813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ABSCHLUSSVORTRAG · LITERATUR-SEMINAR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233172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Automatisierte Sicherheitstests</a:t>
            </a:r>
            <a:endParaRPr lang="en-US" sz="4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CI/CD-Pipelines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868680" y="39776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DevSecOps als Ansatz für sichere Softwareentwicklung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868680" y="4892040"/>
            <a:ext cx="3840480" cy="0"/>
          </a:xfrm>
          <a:prstGeom prst="line">
            <a:avLst/>
          </a:prstGeom>
          <a:noFill/>
          <a:ln w="19050">
            <a:solidFill>
              <a:srgbClr val="0E7BA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9"/>
          <p:cNvSpPr/>
          <p:nvPr/>
        </p:nvSpPr>
        <p:spPr>
          <a:xfrm>
            <a:off x="868680" y="502920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Firas Massoussi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Security &amp; Privacy · Prof. Dr. Hackelöer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Vortrag am 16.07.2026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Motivation: Warum das Thema wichtig ist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6949440" cy="1371600"/>
          </a:xfrm>
          <a:prstGeom prst="roundRect">
            <a:avLst>
              <a:gd name="adj" fmla="val 6000"/>
            </a:avLst>
          </a:prstGeom>
          <a:solidFill>
            <a:srgbClr val="EEF7FB"/>
          </a:solidFill>
          <a:ln/>
          <a:effectLst>
            <a:outerShdw blurRad="88900" dist="25400" dir="5400000" algn="bl" rotWithShape="0">
              <a:srgbClr val="0B2338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777240" y="1856232"/>
            <a:ext cx="749808" cy="749808"/>
          </a:xfrm>
          <a:prstGeom prst="ellipse">
            <a:avLst/>
          </a:prstGeom>
          <a:solidFill>
            <a:srgbClr val="0E7BA6"/>
          </a:solidFill>
          <a:ln/>
          <a:effectLst>
            <a:outerShdw blurRad="88900" dist="25400" dir="5400000" algn="bl" rotWithShape="0">
              <a:srgbClr val="0B2338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190" y="2051182"/>
            <a:ext cx="359908" cy="3599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1719072"/>
            <a:ext cx="5532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wird immer schneller ausgeliefert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783080" y="2130552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2000"/>
              </a:lnSpc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Teams nutzen DevOps und CI/CD-Pipelines: bauen, testen und deployen in kurzen </a:t>
            </a:r>
            <a:r>
              <a:rPr lang="en-US" sz="1200" dirty="0" err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Abständen</a:t>
            </a: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de-DE" sz="1200" dirty="0">
                <a:solidFill>
                  <a:schemeClr val="tx2"/>
                </a:solidFill>
              </a:rPr>
              <a:t> Das ist grundsätzlich ein Vorteil, weil Unternehmen schneller auf neue Anforderungen reagieren können. Gleichzeitig entsteht dadurch aber auch ein Sicherheitsproblem</a:t>
            </a:r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8" name="Shape 5"/>
          <p:cNvSpPr/>
          <p:nvPr/>
        </p:nvSpPr>
        <p:spPr>
          <a:xfrm>
            <a:off x="548640" y="3127248"/>
            <a:ext cx="6949440" cy="1371600"/>
          </a:xfrm>
          <a:prstGeom prst="roundRect">
            <a:avLst>
              <a:gd name="adj" fmla="val 6000"/>
            </a:avLst>
          </a:prstGeom>
          <a:solidFill>
            <a:srgbClr val="EEF7FB"/>
          </a:solidFill>
          <a:ln/>
          <a:effectLst>
            <a:outerShdw blurRad="88900" dist="25400" dir="5400000" algn="bl" rotWithShape="0">
              <a:srgbClr val="0B2338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Shape 6"/>
          <p:cNvSpPr/>
          <p:nvPr/>
        </p:nvSpPr>
        <p:spPr>
          <a:xfrm>
            <a:off x="777240" y="3429000"/>
            <a:ext cx="749808" cy="749808"/>
          </a:xfrm>
          <a:prstGeom prst="ellipse">
            <a:avLst/>
          </a:prstGeom>
          <a:solidFill>
            <a:srgbClr val="0E7BA6"/>
          </a:solidFill>
          <a:ln/>
          <a:effectLst>
            <a:outerShdw blurRad="88900" dist="25400" dir="5400000" algn="bl" rotWithShape="0">
              <a:srgbClr val="0B2338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190" y="3623950"/>
            <a:ext cx="359908" cy="3599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783080" y="3291840"/>
            <a:ext cx="5532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Sicherheit wird oft zu spät geprüft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1783080" y="3703320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Wird Cybersecurity erst am Ende geprüft, werden Schwachstellen spät und teuer entdeckt.</a:t>
            </a:r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13" name="Shape 9"/>
          <p:cNvSpPr/>
          <p:nvPr/>
        </p:nvSpPr>
        <p:spPr>
          <a:xfrm>
            <a:off x="548640" y="4700016"/>
            <a:ext cx="6949440" cy="1371600"/>
          </a:xfrm>
          <a:prstGeom prst="roundRect">
            <a:avLst>
              <a:gd name="adj" fmla="val 6000"/>
            </a:avLst>
          </a:prstGeom>
          <a:solidFill>
            <a:srgbClr val="EEF7FB"/>
          </a:solidFill>
          <a:ln/>
          <a:effectLst>
            <a:outerShdw blurRad="88900" dist="25400" dir="5400000" algn="bl" rotWithShape="0">
              <a:srgbClr val="0B2338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Shape 10"/>
          <p:cNvSpPr/>
          <p:nvPr/>
        </p:nvSpPr>
        <p:spPr>
          <a:xfrm>
            <a:off x="777240" y="5001768"/>
            <a:ext cx="749808" cy="749808"/>
          </a:xfrm>
          <a:prstGeom prst="ellipse">
            <a:avLst/>
          </a:prstGeom>
          <a:solidFill>
            <a:srgbClr val="0E7BA6"/>
          </a:solidFill>
          <a:ln/>
          <a:effectLst>
            <a:outerShdw blurRad="88900" dist="25400" dir="5400000" algn="bl" rotWithShape="0">
              <a:srgbClr val="0B2338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190" y="5196718"/>
            <a:ext cx="359908" cy="3599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783080" y="4864608"/>
            <a:ext cx="5532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Große Angriffsfläche durch fremde Komponenten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1783080" y="5276088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2000"/>
              </a:lnSpc>
            </a:pPr>
            <a:r>
              <a:rPr lang="de-DE" sz="1200" dirty="0">
                <a:solidFill>
                  <a:schemeClr val="tx2"/>
                </a:solidFill>
              </a:rPr>
              <a:t>Moderne Software nutzt oft Open Source-Bibliotheken, Container-Images oder andere Pakete. Wenn dort Schwachstellen enthalten sind, kann auch die eigene Anwendung unsicher werden. Außerdem können Zugangsdaten wie API-Keys, Tokens oder Passwörter aus Versehen im Code landen. Auch das ist gefährlich.</a:t>
            </a:r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18" name="Shape 13"/>
          <p:cNvSpPr/>
          <p:nvPr/>
        </p:nvSpPr>
        <p:spPr>
          <a:xfrm>
            <a:off x="7818120" y="1554480"/>
            <a:ext cx="3840480" cy="4700016"/>
          </a:xfrm>
          <a:prstGeom prst="roundRect">
            <a:avLst>
              <a:gd name="adj" fmla="val 2381"/>
            </a:avLst>
          </a:prstGeom>
          <a:solidFill>
            <a:srgbClr val="0F2A43"/>
          </a:solidFill>
          <a:ln/>
          <a:effectLst>
            <a:outerShdw blurRad="114300" dist="38100" dir="5400000" algn="bl" rotWithShape="0">
              <a:srgbClr val="0F2A43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9" name="Shape 14"/>
          <p:cNvSpPr/>
          <p:nvPr/>
        </p:nvSpPr>
        <p:spPr>
          <a:xfrm>
            <a:off x="8138160" y="1874520"/>
            <a:ext cx="868680" cy="868680"/>
          </a:xfrm>
          <a:prstGeom prst="ellipse">
            <a:avLst/>
          </a:prstGeom>
          <a:solidFill>
            <a:srgbClr val="0B5E80"/>
          </a:solidFill>
          <a:ln/>
          <a:effectLst>
            <a:outerShdw blurRad="88900" dist="25400" dir="5400000" algn="bl" rotWithShape="0">
              <a:srgbClr val="0B2338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4017" y="2100377"/>
            <a:ext cx="416966" cy="41696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229600" y="2880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Kernidee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8229600" y="324612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Bei schneller Entwicklung darf Sicherheit kein einzelner Schritt am Ende sein.</a:t>
            </a:r>
            <a:endParaRPr lang="en-US" sz="1900" dirty="0"/>
          </a:p>
        </p:txBody>
      </p:sp>
      <p:sp>
        <p:nvSpPr>
          <p:cNvPr id="23" name="Text 17"/>
          <p:cNvSpPr/>
          <p:nvPr/>
        </p:nvSpPr>
        <p:spPr>
          <a:xfrm>
            <a:off x="8229600" y="489204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A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 muss früh, regelmäßig und automatisiert mitlaufen.  (vgl. NIST 2022, OWASP)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in CI/CD-Pipelines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3931920"/>
            <a:ext cx="4206240" cy="4206240"/>
          </a:xfrm>
          <a:prstGeom prst="ellipse">
            <a:avLst/>
          </a:prstGeom>
          <a:solidFill>
            <a:srgbClr val="0E7BA6">
              <a:alpha val="15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822960" y="777240"/>
            <a:ext cx="914400" cy="914400"/>
          </a:xfrm>
          <a:prstGeom prst="ellipse">
            <a:avLst/>
          </a:prstGeom>
          <a:solidFill>
            <a:srgbClr val="0E7BA6"/>
          </a:solidFill>
          <a:ln/>
          <a:effectLst>
            <a:outerShdw blurRad="88900" dist="25400" dir="5400000" algn="bl" rotWithShape="0">
              <a:srgbClr val="0B2338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1014984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20240" y="914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FORSCHUNGSFRAGE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68680" y="1965960"/>
            <a:ext cx="10424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 können </a:t>
            </a:r>
            <a:r>
              <a:rPr lang="en-US" sz="27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automatisierte Sicherheitstests in CI/CD-Pipelines</a:t>
            </a:r>
            <a:r>
              <a:rPr lang="en-US" sz="2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dazu beitragen, Sicherheitsprobleme </a:t>
            </a:r>
            <a:r>
              <a:rPr lang="en-US" sz="27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frühzeitig</a:t>
            </a:r>
            <a:r>
              <a:rPr lang="en-US" sz="2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zu erkennen – und welche </a:t>
            </a:r>
            <a:r>
              <a:rPr lang="en-US" sz="27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Vorteile und Herausforderungen</a:t>
            </a:r>
            <a:r>
              <a:rPr lang="en-US" sz="2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ergeben sich daraus für das Software Engineering?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868680" y="5074920"/>
            <a:ext cx="3429000" cy="1234440"/>
          </a:xfrm>
          <a:prstGeom prst="roundRect">
            <a:avLst>
              <a:gd name="adj" fmla="val 6667"/>
            </a:avLst>
          </a:prstGeom>
          <a:solidFill>
            <a:srgbClr val="14395C"/>
          </a:solidFill>
          <a:ln w="12700">
            <a:solidFill>
              <a:srgbClr val="0B5E8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5"/>
          <p:cNvSpPr/>
          <p:nvPr/>
        </p:nvSpPr>
        <p:spPr>
          <a:xfrm>
            <a:off x="1069848" y="5138928"/>
            <a:ext cx="3026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8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ist DevSecOps – und wie unterscheidet es sich von DevOps?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53712" y="5074920"/>
            <a:ext cx="3429000" cy="1234440"/>
          </a:xfrm>
          <a:prstGeom prst="roundRect">
            <a:avLst>
              <a:gd name="adj" fmla="val 6667"/>
            </a:avLst>
          </a:prstGeom>
          <a:solidFill>
            <a:srgbClr val="14395C"/>
          </a:solidFill>
          <a:ln w="12700">
            <a:solidFill>
              <a:srgbClr val="0B5E8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7"/>
          <p:cNvSpPr/>
          <p:nvPr/>
        </p:nvSpPr>
        <p:spPr>
          <a:xfrm>
            <a:off x="4754880" y="5138928"/>
            <a:ext cx="3026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8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Welche Testart passt an welche Stelle der Pipeline?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238744" y="5074920"/>
            <a:ext cx="3429000" cy="1234440"/>
          </a:xfrm>
          <a:prstGeom prst="roundRect">
            <a:avLst>
              <a:gd name="adj" fmla="val 6667"/>
            </a:avLst>
          </a:prstGeom>
          <a:solidFill>
            <a:srgbClr val="14395C"/>
          </a:solidFill>
          <a:ln w="12700">
            <a:solidFill>
              <a:srgbClr val="0B5E8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9"/>
          <p:cNvSpPr/>
          <p:nvPr/>
        </p:nvSpPr>
        <p:spPr>
          <a:xfrm>
            <a:off x="8439912" y="5138928"/>
            <a:ext cx="3026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8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bringt der Ansatz – und wo sind die Grenzen?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Von DevOps zu </a:t>
            </a:r>
            <a:r>
              <a:rPr lang="en-US" sz="3000" b="1" dirty="0" err="1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DevSecOps</a:t>
            </a:r>
            <a:r>
              <a:rPr lang="en-US" sz="30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„Shift Left“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4937760" cy="2148840"/>
          </a:xfrm>
          <a:prstGeom prst="roundRect">
            <a:avLst>
              <a:gd name="adj" fmla="val 4255"/>
            </a:avLst>
          </a:prstGeom>
          <a:solidFill>
            <a:srgbClr val="EEF7FB"/>
          </a:solidFill>
          <a:ln/>
          <a:effectLst>
            <a:outerShdw blurRad="88900" dist="25400" dir="5400000" algn="bl" rotWithShape="0">
              <a:srgbClr val="0B2338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868680" y="17830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5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DevOps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68680" y="2286000"/>
            <a:ext cx="4434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de-DE" sz="1400" dirty="0"/>
              <a:t>DevOps verbindet Entwicklung und Betrieb. Das Ziel ist, Software schneller und zuverlässiger bereitzustellen. Dafür werden viele Schritte automatisiert, zum Beispiel </a:t>
            </a:r>
            <a:r>
              <a:rPr lang="de-DE" sz="1400" dirty="0" err="1"/>
              <a:t>Build</a:t>
            </a:r>
            <a:r>
              <a:rPr lang="de-DE" sz="1400" dirty="0"/>
              <a:t>, Tests und </a:t>
            </a:r>
            <a:r>
              <a:rPr lang="de-DE" sz="1400" dirty="0" err="1"/>
              <a:t>Deployment</a:t>
            </a:r>
            <a:r>
              <a:rPr lang="de-DE" sz="1400" dirty="0"/>
              <a:t>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50992" y="2331720"/>
            <a:ext cx="594360" cy="594360"/>
          </a:xfrm>
          <a:prstGeom prst="ellipse">
            <a:avLst/>
          </a:prstGeom>
          <a:solidFill>
            <a:srgbClr val="0E7BA6"/>
          </a:solidFill>
          <a:ln/>
          <a:effectLst>
            <a:outerShdw blurRad="88900" dist="25400" dir="5400000" algn="bl" rotWithShape="0">
              <a:srgbClr val="0B2338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008" y="2459736"/>
            <a:ext cx="338328" cy="3383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0" y="1554480"/>
            <a:ext cx="5257800" cy="2148840"/>
          </a:xfrm>
          <a:prstGeom prst="roundRect">
            <a:avLst>
              <a:gd name="adj" fmla="val 4255"/>
            </a:avLst>
          </a:prstGeom>
          <a:solidFill>
            <a:srgbClr val="0F2A43"/>
          </a:solidFill>
          <a:ln/>
          <a:effectLst>
            <a:outerShdw blurRad="114300" dist="38100" dir="5400000" algn="bl" rotWithShape="0">
              <a:srgbClr val="0F2A43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Text 6"/>
          <p:cNvSpPr/>
          <p:nvPr/>
        </p:nvSpPr>
        <p:spPr>
          <a:xfrm>
            <a:off x="6720840" y="1783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DevSec</a:t>
            </a:r>
            <a:r>
              <a:rPr lang="en-US" sz="20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Ops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720840" y="2286000"/>
            <a:ext cx="4754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6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Ergänzt DevOps um Security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6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Sicherheit von Anfang an mitgedacht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6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Technischer UND organisatorischer Ansatz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3977640"/>
            <a:ext cx="11109960" cy="2240280"/>
          </a:xfrm>
          <a:prstGeom prst="roundRect">
            <a:avLst>
              <a:gd name="adj" fmla="val 4082"/>
            </a:avLst>
          </a:prstGeom>
          <a:solidFill>
            <a:srgbClr val="E2F1F8"/>
          </a:solidFill>
          <a:ln/>
          <a:effectLst>
            <a:outerShdw blurRad="88900" dist="25400" dir="5400000" algn="bl" rotWithShape="0">
              <a:srgbClr val="0B2338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Shape 9"/>
          <p:cNvSpPr/>
          <p:nvPr/>
        </p:nvSpPr>
        <p:spPr>
          <a:xfrm>
            <a:off x="822960" y="4279392"/>
            <a:ext cx="822960" cy="822960"/>
          </a:xfrm>
          <a:prstGeom prst="ellipse">
            <a:avLst/>
          </a:prstGeom>
          <a:solidFill>
            <a:srgbClr val="0E7BA6"/>
          </a:solidFill>
          <a:ln/>
          <a:effectLst>
            <a:outerShdw blurRad="88900" dist="25400" dir="5400000" algn="bl" rotWithShape="0">
              <a:srgbClr val="0B2338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930" y="4493362"/>
            <a:ext cx="395021" cy="39502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828800" y="431596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Shift Left Security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1828800" y="4800600"/>
            <a:ext cx="9509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de-DE" sz="1400" dirty="0"/>
              <a:t>Früher im Entwicklungsprozess. Sicherheitsprüfungen sollen also nicht erst kurz vor der Veröffentlichung stattfinden, sondern schon beim Code oder beim Test. 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(vgl. Myrbakken &amp; Colomo-Palacios 2017; Rajapakse et al. 2022; Zhao et al. 2024)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in CI/CD-Pipelines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DevSecOps-Pipeline: Prüfungen an jeder Stelle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1452" y="1965960"/>
            <a:ext cx="1874520" cy="1965960"/>
          </a:xfrm>
          <a:prstGeom prst="roundRect">
            <a:avLst>
              <a:gd name="adj" fmla="val 4390"/>
            </a:avLst>
          </a:prstGeom>
          <a:solidFill>
            <a:srgbClr val="0F2A43"/>
          </a:solidFill>
          <a:ln/>
          <a:effectLst>
            <a:outerShdw blurRad="114300" dist="38100" dir="5400000" algn="bl" rotWithShape="0">
              <a:srgbClr val="0F2A43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751180" y="2057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2892" y="242316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 / PR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42620" y="3136392"/>
            <a:ext cx="1472184" cy="658368"/>
          </a:xfrm>
          <a:prstGeom prst="roundRect">
            <a:avLst>
              <a:gd name="adj" fmla="val 8333"/>
            </a:avLst>
          </a:prstGeom>
          <a:solidFill>
            <a:srgbClr val="0B5E8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842620" y="3136392"/>
            <a:ext cx="1472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Scan</a:t>
            </a:r>
            <a:endParaRPr lang="en-US" sz="11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06828" y="2747772"/>
            <a:ext cx="402336" cy="402336"/>
          </a:xfrm>
          <a:prstGeom prst="ellipse">
            <a:avLst/>
          </a:prstGeom>
          <a:solidFill>
            <a:srgbClr val="0E7BA6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7412" y="2848356"/>
            <a:ext cx="201168" cy="20116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900020" y="1965960"/>
            <a:ext cx="1874520" cy="1965960"/>
          </a:xfrm>
          <a:prstGeom prst="roundRect">
            <a:avLst>
              <a:gd name="adj" fmla="val 4390"/>
            </a:avLst>
          </a:prstGeom>
          <a:solidFill>
            <a:srgbClr val="0F2A43"/>
          </a:solidFill>
          <a:ln/>
          <a:effectLst>
            <a:outerShdw blurRad="114300" dist="38100" dir="5400000" algn="bl" rotWithShape="0">
              <a:srgbClr val="0F2A43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Text 8"/>
          <p:cNvSpPr/>
          <p:nvPr/>
        </p:nvSpPr>
        <p:spPr>
          <a:xfrm>
            <a:off x="3009748" y="2057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991460" y="242316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3101188" y="3136392"/>
            <a:ext cx="1472184" cy="658368"/>
          </a:xfrm>
          <a:prstGeom prst="roundRect">
            <a:avLst>
              <a:gd name="adj" fmla="val 8333"/>
            </a:avLst>
          </a:prstGeom>
          <a:solidFill>
            <a:srgbClr val="0B5E8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11"/>
          <p:cNvSpPr/>
          <p:nvPr/>
        </p:nvSpPr>
        <p:spPr>
          <a:xfrm>
            <a:off x="3101188" y="3136392"/>
            <a:ext cx="1472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 /</a:t>
            </a:r>
            <a:endParaRPr lang="en-US" sz="11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765396" y="2747772"/>
            <a:ext cx="402336" cy="402336"/>
          </a:xfrm>
          <a:prstGeom prst="ellipse">
            <a:avLst/>
          </a:prstGeom>
          <a:solidFill>
            <a:srgbClr val="0E7BA6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5980" y="2848356"/>
            <a:ext cx="201168" cy="201168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158588" y="1965960"/>
            <a:ext cx="1874520" cy="1965960"/>
          </a:xfrm>
          <a:prstGeom prst="roundRect">
            <a:avLst>
              <a:gd name="adj" fmla="val 4390"/>
            </a:avLst>
          </a:prstGeom>
          <a:solidFill>
            <a:srgbClr val="0F2A43"/>
          </a:solidFill>
          <a:ln/>
          <a:effectLst>
            <a:outerShdw blurRad="114300" dist="38100" dir="5400000" algn="bl" rotWithShape="0">
              <a:srgbClr val="0F2A43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8" name="Text 14"/>
          <p:cNvSpPr/>
          <p:nvPr/>
        </p:nvSpPr>
        <p:spPr>
          <a:xfrm>
            <a:off x="5268316" y="2057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5250028" y="242316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5359756" y="3136392"/>
            <a:ext cx="1472184" cy="658368"/>
          </a:xfrm>
          <a:prstGeom prst="roundRect">
            <a:avLst>
              <a:gd name="adj" fmla="val 8333"/>
            </a:avLst>
          </a:prstGeom>
          <a:solidFill>
            <a:srgbClr val="0B5E8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1" name="Text 17"/>
          <p:cNvSpPr/>
          <p:nvPr/>
        </p:nvSpPr>
        <p:spPr>
          <a:xfrm>
            <a:off x="5359756" y="3136392"/>
            <a:ext cx="1472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 /</a:t>
            </a:r>
            <a:endParaRPr lang="en-US" sz="11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7023964" y="2747772"/>
            <a:ext cx="402336" cy="402336"/>
          </a:xfrm>
          <a:prstGeom prst="ellipse">
            <a:avLst/>
          </a:prstGeom>
          <a:solidFill>
            <a:srgbClr val="0E7BA6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4548" y="2848356"/>
            <a:ext cx="201168" cy="201168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7417156" y="1965960"/>
            <a:ext cx="1874520" cy="1965960"/>
          </a:xfrm>
          <a:prstGeom prst="roundRect">
            <a:avLst>
              <a:gd name="adj" fmla="val 4390"/>
            </a:avLst>
          </a:prstGeom>
          <a:solidFill>
            <a:srgbClr val="0F2A43"/>
          </a:solidFill>
          <a:ln/>
          <a:effectLst>
            <a:outerShdw blurRad="114300" dist="38100" dir="5400000" algn="bl" rotWithShape="0">
              <a:srgbClr val="0F2A43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5" name="Text 20"/>
          <p:cNvSpPr/>
          <p:nvPr/>
        </p:nvSpPr>
        <p:spPr>
          <a:xfrm>
            <a:off x="7526884" y="2057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7508596" y="242316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/ Release</a:t>
            </a:r>
            <a:endParaRPr lang="en-US" sz="1500" dirty="0"/>
          </a:p>
        </p:txBody>
      </p:sp>
      <p:sp>
        <p:nvSpPr>
          <p:cNvPr id="27" name="Shape 22"/>
          <p:cNvSpPr/>
          <p:nvPr/>
        </p:nvSpPr>
        <p:spPr>
          <a:xfrm>
            <a:off x="7618324" y="3136392"/>
            <a:ext cx="1472184" cy="658368"/>
          </a:xfrm>
          <a:prstGeom prst="roundRect">
            <a:avLst>
              <a:gd name="adj" fmla="val 8333"/>
            </a:avLst>
          </a:prstGeom>
          <a:solidFill>
            <a:srgbClr val="0B5E8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8" name="Text 23"/>
          <p:cNvSpPr/>
          <p:nvPr/>
        </p:nvSpPr>
        <p:spPr>
          <a:xfrm>
            <a:off x="7618324" y="3136392"/>
            <a:ext cx="1472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11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9282532" y="2747772"/>
            <a:ext cx="402336" cy="402336"/>
          </a:xfrm>
          <a:prstGeom prst="ellipse">
            <a:avLst/>
          </a:prstGeom>
          <a:solidFill>
            <a:srgbClr val="0E7BA6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3116" y="2848356"/>
            <a:ext cx="201168" cy="201168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9675724" y="1965960"/>
            <a:ext cx="1874520" cy="1965960"/>
          </a:xfrm>
          <a:prstGeom prst="roundRect">
            <a:avLst>
              <a:gd name="adj" fmla="val 4390"/>
            </a:avLst>
          </a:prstGeom>
          <a:solidFill>
            <a:srgbClr val="0F2A43"/>
          </a:solidFill>
          <a:ln/>
          <a:effectLst>
            <a:outerShdw blurRad="114300" dist="38100" dir="5400000" algn="bl" rotWithShape="0">
              <a:srgbClr val="0F2A43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2" name="Text 26"/>
          <p:cNvSpPr/>
          <p:nvPr/>
        </p:nvSpPr>
        <p:spPr>
          <a:xfrm>
            <a:off x="9785452" y="2057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9767164" y="242316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1500" dirty="0"/>
          </a:p>
        </p:txBody>
      </p:sp>
      <p:sp>
        <p:nvSpPr>
          <p:cNvPr id="34" name="Shape 28"/>
          <p:cNvSpPr/>
          <p:nvPr/>
        </p:nvSpPr>
        <p:spPr>
          <a:xfrm>
            <a:off x="9876892" y="3136392"/>
            <a:ext cx="1472184" cy="658368"/>
          </a:xfrm>
          <a:prstGeom prst="roundRect">
            <a:avLst>
              <a:gd name="adj" fmla="val 8333"/>
            </a:avLst>
          </a:prstGeom>
          <a:solidFill>
            <a:srgbClr val="0B5E8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5" name="Text 29"/>
          <p:cNvSpPr/>
          <p:nvPr/>
        </p:nvSpPr>
        <p:spPr>
          <a:xfrm>
            <a:off x="9876892" y="3136392"/>
            <a:ext cx="1472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1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100" dirty="0"/>
          </a:p>
        </p:txBody>
      </p:sp>
      <p:sp>
        <p:nvSpPr>
          <p:cNvPr id="36" name="Shape 30"/>
          <p:cNvSpPr/>
          <p:nvPr/>
        </p:nvSpPr>
        <p:spPr>
          <a:xfrm>
            <a:off x="548640" y="4526280"/>
            <a:ext cx="11109960" cy="1417320"/>
          </a:xfrm>
          <a:prstGeom prst="roundRect">
            <a:avLst>
              <a:gd name="adj" fmla="val 6452"/>
            </a:avLst>
          </a:prstGeom>
          <a:solidFill>
            <a:srgbClr val="EEF7FB"/>
          </a:solidFill>
          <a:ln/>
          <a:effectLst>
            <a:outerShdw blurRad="88900" dist="25400" dir="5400000" algn="bl" rotWithShape="0">
              <a:srgbClr val="0B2338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7" name="Shape 31"/>
          <p:cNvSpPr/>
          <p:nvPr/>
        </p:nvSpPr>
        <p:spPr>
          <a:xfrm>
            <a:off x="822960" y="4773168"/>
            <a:ext cx="777240" cy="777240"/>
          </a:xfrm>
          <a:prstGeom prst="ellipse">
            <a:avLst/>
          </a:prstGeom>
          <a:solidFill>
            <a:srgbClr val="0E7BA6"/>
          </a:solidFill>
          <a:ln/>
          <a:effectLst>
            <a:outerShdw blurRad="88900" dist="25400" dir="5400000" algn="bl" rotWithShape="0">
              <a:srgbClr val="0B2338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042" y="4975250"/>
            <a:ext cx="373075" cy="373075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1828800" y="4754880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Phase kann eigene Sicherheitsprüfungen enthalten. 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Und: Die Pipeline selbst ist ein </a:t>
            </a:r>
            <a:r>
              <a:rPr lang="en-US" sz="13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Angriffsziel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sie hat Zugriff auf Code, Secrets und Deployment. Auch sie muss geschützt werden.  (vgl. OWASP CI/CD Security)</a:t>
            </a:r>
            <a:endParaRPr lang="en-US" sz="1350" dirty="0"/>
          </a:p>
        </p:txBody>
      </p:sp>
      <p:sp>
        <p:nvSpPr>
          <p:cNvPr id="40" name="Text 33"/>
          <p:cNvSpPr/>
          <p:nvPr/>
        </p:nvSpPr>
        <p:spPr>
          <a:xfrm>
            <a:off x="548640" y="4114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 Darstellung auf Grundlage von NIST (2017, 2022), OWASP und GitHub Docs.</a:t>
            </a:r>
            <a:endParaRPr lang="en-US" sz="950" dirty="0"/>
          </a:p>
        </p:txBody>
      </p:sp>
      <p:sp>
        <p:nvSpPr>
          <p:cNvPr id="41" name="Text 34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in CI/CD-Pipelines</a:t>
            </a:r>
            <a:endParaRPr lang="en-US" sz="900" dirty="0"/>
          </a:p>
        </p:txBody>
      </p:sp>
      <p:sp>
        <p:nvSpPr>
          <p:cNvPr id="42" name="Text 35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Fünf automatisierte Testarten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prüft ein anderes </a:t>
            </a:r>
            <a:r>
              <a:rPr lang="en-US" sz="14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Objekt</a:t>
            </a: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4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deshalb</a:t>
            </a: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ergänzen sie sich, statt sich zu ersetzen.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2057400"/>
          </a:xfrm>
          <a:prstGeom prst="roundRect">
            <a:avLst>
              <a:gd name="adj" fmla="val 4000"/>
            </a:avLst>
          </a:prstGeom>
          <a:solidFill>
            <a:srgbClr val="EEF7FB"/>
          </a:solidFill>
          <a:ln/>
          <a:effectLst>
            <a:outerShdw blurRad="88900" dist="25400" dir="5400000" algn="bl" rotWithShape="0">
              <a:srgbClr val="0B2338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804672" y="1965960"/>
            <a:ext cx="822960" cy="822960"/>
          </a:xfrm>
          <a:prstGeom prst="ellipse">
            <a:avLst/>
          </a:prstGeom>
          <a:solidFill>
            <a:srgbClr val="0E7BA6"/>
          </a:solidFill>
          <a:ln/>
          <a:effectLst>
            <a:outerShdw blurRad="88900" dist="25400" dir="5400000" algn="bl" rotWithShape="0">
              <a:srgbClr val="0B2338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642" y="217993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10512" y="198424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SAST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810512" y="244144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App Security Testing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4672" y="2898648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Prüft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ruhenden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Quellcode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ohne die App auszuführen.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07408" y="1691640"/>
            <a:ext cx="3566160" cy="2057400"/>
          </a:xfrm>
          <a:prstGeom prst="roundRect">
            <a:avLst>
              <a:gd name="adj" fmla="val 4000"/>
            </a:avLst>
          </a:prstGeom>
          <a:solidFill>
            <a:srgbClr val="EEF7FB"/>
          </a:solidFill>
          <a:ln/>
          <a:effectLst>
            <a:outerShdw blurRad="88900" dist="25400" dir="5400000" algn="bl" rotWithShape="0">
              <a:srgbClr val="0B2338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Shape 8"/>
          <p:cNvSpPr/>
          <p:nvPr/>
        </p:nvSpPr>
        <p:spPr>
          <a:xfrm>
            <a:off x="4663440" y="1965960"/>
            <a:ext cx="822960" cy="822960"/>
          </a:xfrm>
          <a:prstGeom prst="ellipse">
            <a:avLst/>
          </a:prstGeom>
          <a:solidFill>
            <a:srgbClr val="0E7BA6"/>
          </a:solidFill>
          <a:ln/>
          <a:effectLst>
            <a:outerShdw blurRad="88900" dist="25400" dir="5400000" algn="bl" rotWithShape="0">
              <a:srgbClr val="0B2338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7410" y="2179930"/>
            <a:ext cx="395021" cy="39502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69280" y="198424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DAST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5669280" y="244144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App Security Testing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663440" y="2898648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Testet die laufende Anwendung von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außen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266176" y="1691640"/>
            <a:ext cx="3566160" cy="2057400"/>
          </a:xfrm>
          <a:prstGeom prst="roundRect">
            <a:avLst>
              <a:gd name="adj" fmla="val 4000"/>
            </a:avLst>
          </a:prstGeom>
          <a:solidFill>
            <a:srgbClr val="EEF7FB"/>
          </a:solidFill>
          <a:ln/>
          <a:effectLst>
            <a:outerShdw blurRad="88900" dist="25400" dir="5400000" algn="bl" rotWithShape="0">
              <a:srgbClr val="0B2338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Shape 13"/>
          <p:cNvSpPr/>
          <p:nvPr/>
        </p:nvSpPr>
        <p:spPr>
          <a:xfrm>
            <a:off x="8522208" y="1965960"/>
            <a:ext cx="822960" cy="822960"/>
          </a:xfrm>
          <a:prstGeom prst="ellipse">
            <a:avLst/>
          </a:prstGeom>
          <a:solidFill>
            <a:srgbClr val="0E7BA6"/>
          </a:solidFill>
          <a:ln/>
          <a:effectLst>
            <a:outerShdw blurRad="88900" dist="25400" dir="5400000" algn="bl" rotWithShape="0">
              <a:srgbClr val="0B2338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6178" y="2179930"/>
            <a:ext cx="395021" cy="39502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528048" y="198424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9528048" y="244144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Scanning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522208" y="2898648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Prüft externe Bibliotheken auf bekannte Schwachstellen.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2383384" y="4041648"/>
            <a:ext cx="3566160" cy="2057400"/>
          </a:xfrm>
          <a:prstGeom prst="roundRect">
            <a:avLst>
              <a:gd name="adj" fmla="val 4000"/>
            </a:avLst>
          </a:prstGeom>
          <a:solidFill>
            <a:srgbClr val="EEF7FB"/>
          </a:solidFill>
          <a:ln/>
          <a:effectLst>
            <a:outerShdw blurRad="88900" dist="25400" dir="5400000" algn="bl" rotWithShape="0">
              <a:srgbClr val="0B2338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3" name="Shape 18"/>
          <p:cNvSpPr/>
          <p:nvPr/>
        </p:nvSpPr>
        <p:spPr>
          <a:xfrm>
            <a:off x="2639416" y="4315968"/>
            <a:ext cx="822960" cy="822960"/>
          </a:xfrm>
          <a:prstGeom prst="ellipse">
            <a:avLst/>
          </a:prstGeom>
          <a:solidFill>
            <a:srgbClr val="0E7BA6"/>
          </a:solidFill>
          <a:ln/>
          <a:effectLst>
            <a:outerShdw blurRad="88900" dist="25400" dir="5400000" algn="bl" rotWithShape="0">
              <a:srgbClr val="0B2338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3385" y="4529938"/>
            <a:ext cx="395021" cy="39502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3645256" y="4334256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Secret Scanning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3645256" y="4791456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Zugangsdaten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2639416" y="5248656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Findet API-Keys, Tokens &amp; Passwörter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Code.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6242152" y="4041648"/>
            <a:ext cx="3566160" cy="2057400"/>
          </a:xfrm>
          <a:prstGeom prst="roundRect">
            <a:avLst>
              <a:gd name="adj" fmla="val 4000"/>
            </a:avLst>
          </a:prstGeom>
          <a:solidFill>
            <a:srgbClr val="EEF7FB"/>
          </a:solidFill>
          <a:ln/>
          <a:effectLst>
            <a:outerShdw blurRad="88900" dist="25400" dir="5400000" algn="bl" rotWithShape="0">
              <a:srgbClr val="0B2338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9" name="Shape 23"/>
          <p:cNvSpPr/>
          <p:nvPr/>
        </p:nvSpPr>
        <p:spPr>
          <a:xfrm>
            <a:off x="6498184" y="4315968"/>
            <a:ext cx="822960" cy="822960"/>
          </a:xfrm>
          <a:prstGeom prst="ellipse">
            <a:avLst/>
          </a:prstGeom>
          <a:solidFill>
            <a:srgbClr val="0E7BA6"/>
          </a:solidFill>
          <a:ln/>
          <a:effectLst>
            <a:outerShdw blurRad="88900" dist="25400" dir="5400000" algn="bl" rotWithShape="0">
              <a:srgbClr val="0B2338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2153" y="4529938"/>
            <a:ext cx="395021" cy="395021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504024" y="4334256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 Scanning</a:t>
            </a:r>
            <a:endParaRPr lang="en-US" sz="1800" dirty="0"/>
          </a:p>
        </p:txBody>
      </p:sp>
      <p:sp>
        <p:nvSpPr>
          <p:cNvPr id="32" name="Text 25"/>
          <p:cNvSpPr/>
          <p:nvPr/>
        </p:nvSpPr>
        <p:spPr>
          <a:xfrm>
            <a:off x="7504024" y="4791456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6498184" y="5248656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Prüft Container-Images auf verwundbare Pakete vor dem Release.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in CI/CD-Pipelines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Vorteile von DevSecOps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440680" cy="2103120"/>
          </a:xfrm>
          <a:prstGeom prst="roundRect">
            <a:avLst>
              <a:gd name="adj" fmla="val 3913"/>
            </a:avLst>
          </a:prstGeom>
          <a:solidFill>
            <a:srgbClr val="EEF7FB"/>
          </a:solidFill>
          <a:ln/>
          <a:effectLst>
            <a:outerShdw blurRad="88900" dist="25400" dir="5400000" algn="bl" rotWithShape="0">
              <a:srgbClr val="0B2338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868680" cy="868680"/>
          </a:xfrm>
          <a:prstGeom prst="ellipse">
            <a:avLst/>
          </a:prstGeom>
          <a:solidFill>
            <a:srgbClr val="0E7BA6"/>
          </a:solidFill>
          <a:ln/>
          <a:effectLst>
            <a:outerShdw blurRad="88900" dist="25400" dir="5400000" algn="bl" rotWithShape="0">
              <a:srgbClr val="0B2338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17" y="2146097"/>
            <a:ext cx="416966" cy="4169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20240" y="1984248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Frühere Erkennung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41248" y="2834640"/>
            <a:ext cx="4873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Probleme werden nah an ihrer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Entstehung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sichtbar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Fehler sind günstiger zu beheben.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309360" y="1600200"/>
            <a:ext cx="5440680" cy="2103120"/>
          </a:xfrm>
          <a:prstGeom prst="roundRect">
            <a:avLst>
              <a:gd name="adj" fmla="val 3913"/>
            </a:avLst>
          </a:prstGeom>
          <a:solidFill>
            <a:srgbClr val="EEF7FB"/>
          </a:solidFill>
          <a:ln/>
          <a:effectLst>
            <a:outerShdw blurRad="88900" dist="25400" dir="5400000" algn="bl" rotWithShape="0">
              <a:srgbClr val="0B2338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Shape 6"/>
          <p:cNvSpPr/>
          <p:nvPr/>
        </p:nvSpPr>
        <p:spPr>
          <a:xfrm>
            <a:off x="6583680" y="1920240"/>
            <a:ext cx="868680" cy="868680"/>
          </a:xfrm>
          <a:prstGeom prst="ellipse">
            <a:avLst/>
          </a:prstGeom>
          <a:solidFill>
            <a:srgbClr val="0E7BA6"/>
          </a:solidFill>
          <a:ln/>
          <a:effectLst>
            <a:outerShdw blurRad="88900" dist="25400" dir="5400000" algn="bl" rotWithShape="0">
              <a:srgbClr val="0B2338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9537" y="2146097"/>
            <a:ext cx="416966" cy="41696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80960" y="1984248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Regelmäßige Prüfungen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6601968" y="2834640"/>
            <a:ext cx="4873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laufen bei jeder Änderung automatisch, nicht nur einmal am Ende.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4023360"/>
            <a:ext cx="5440680" cy="2103120"/>
          </a:xfrm>
          <a:prstGeom prst="roundRect">
            <a:avLst>
              <a:gd name="adj" fmla="val 3913"/>
            </a:avLst>
          </a:prstGeom>
          <a:solidFill>
            <a:srgbClr val="EEF7FB"/>
          </a:solidFill>
          <a:ln/>
          <a:effectLst>
            <a:outerShdw blurRad="88900" dist="25400" dir="5400000" algn="bl" rotWithShape="0">
              <a:srgbClr val="0B2338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Shape 10"/>
          <p:cNvSpPr/>
          <p:nvPr/>
        </p:nvSpPr>
        <p:spPr>
          <a:xfrm>
            <a:off x="822960" y="4343400"/>
            <a:ext cx="868680" cy="868680"/>
          </a:xfrm>
          <a:prstGeom prst="ellipse">
            <a:avLst/>
          </a:prstGeom>
          <a:solidFill>
            <a:srgbClr val="0E7BA6"/>
          </a:solidFill>
          <a:ln/>
          <a:effectLst>
            <a:outerShdw blurRad="88900" dist="25400" dir="5400000" algn="bl" rotWithShape="0">
              <a:srgbClr val="0B2338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8817" y="4569257"/>
            <a:ext cx="416966" cy="41696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920240" y="4407408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Bessere Zusammenarbeit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841248" y="5257800"/>
            <a:ext cx="4873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Entwicklung, Betrieb &amp; Security teilen gemeinsame Regeln und Ziele.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309360" y="4023360"/>
            <a:ext cx="5440680" cy="2103120"/>
          </a:xfrm>
          <a:prstGeom prst="roundRect">
            <a:avLst>
              <a:gd name="adj" fmla="val 3913"/>
            </a:avLst>
          </a:prstGeom>
          <a:solidFill>
            <a:srgbClr val="EEF7FB"/>
          </a:solidFill>
          <a:ln/>
          <a:effectLst>
            <a:outerShdw blurRad="88900" dist="25400" dir="5400000" algn="bl" rotWithShape="0">
              <a:srgbClr val="0B2338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9" name="Shape 14"/>
          <p:cNvSpPr/>
          <p:nvPr/>
        </p:nvSpPr>
        <p:spPr>
          <a:xfrm>
            <a:off x="6583680" y="4343400"/>
            <a:ext cx="868680" cy="868680"/>
          </a:xfrm>
          <a:prstGeom prst="ellipse">
            <a:avLst/>
          </a:prstGeom>
          <a:solidFill>
            <a:srgbClr val="0E7BA6"/>
          </a:solidFill>
          <a:ln/>
          <a:effectLst>
            <a:outerShdw blurRad="88900" dist="25400" dir="5400000" algn="bl" rotWithShape="0">
              <a:srgbClr val="0B2338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9537" y="4569257"/>
            <a:ext cx="416966" cy="41696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80960" y="4407408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Nachvollziehbarkeit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6601968" y="5257800"/>
            <a:ext cx="4873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Pipeline-Berichte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dokumentieren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Prüfungen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hilfreich für Audits und Qualität.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in CI/CD-Pipelines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Herausforderungen von DevSecOps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440680" cy="2103120"/>
          </a:xfrm>
          <a:prstGeom prst="roundRect">
            <a:avLst>
              <a:gd name="adj" fmla="val 3913"/>
            </a:avLst>
          </a:prstGeom>
          <a:solidFill>
            <a:srgbClr val="EEF7FB"/>
          </a:solidFill>
          <a:ln/>
          <a:effectLst>
            <a:outerShdw blurRad="88900" dist="25400" dir="5400000" algn="bl" rotWithShape="0">
              <a:srgbClr val="0B2338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868680" cy="868680"/>
          </a:xfrm>
          <a:prstGeom prst="ellipse">
            <a:avLst/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2338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17" y="2146097"/>
            <a:ext cx="416966" cy="4169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20240" y="1984248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Fehlalarme (False Positives)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41248" y="2834640"/>
            <a:ext cx="4873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 viele unkritische Meldungen führen dazu, dass echte Warnungen übersehen werden.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309360" y="1600200"/>
            <a:ext cx="5440680" cy="2103120"/>
          </a:xfrm>
          <a:prstGeom prst="roundRect">
            <a:avLst>
              <a:gd name="adj" fmla="val 3913"/>
            </a:avLst>
          </a:prstGeom>
          <a:solidFill>
            <a:srgbClr val="EEF7FB"/>
          </a:solidFill>
          <a:ln/>
          <a:effectLst>
            <a:outerShdw blurRad="88900" dist="25400" dir="5400000" algn="bl" rotWithShape="0">
              <a:srgbClr val="0B2338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Shape 6"/>
          <p:cNvSpPr/>
          <p:nvPr/>
        </p:nvSpPr>
        <p:spPr>
          <a:xfrm>
            <a:off x="6583680" y="1920240"/>
            <a:ext cx="868680" cy="868680"/>
          </a:xfrm>
          <a:prstGeom prst="ellipse">
            <a:avLst/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2338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9537" y="2146097"/>
            <a:ext cx="416966" cy="41696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80960" y="1984248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Aufwand &amp; Tool-Auswahl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601968" y="2834640"/>
            <a:ext cx="4873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anpassen, Tools einrichten und Regeln festlegen kostet Zeit und Pflege.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4023360"/>
            <a:ext cx="5440680" cy="2103120"/>
          </a:xfrm>
          <a:prstGeom prst="roundRect">
            <a:avLst>
              <a:gd name="adj" fmla="val 3913"/>
            </a:avLst>
          </a:prstGeom>
          <a:solidFill>
            <a:srgbClr val="EEF7FB"/>
          </a:solidFill>
          <a:ln/>
          <a:effectLst>
            <a:outerShdw blurRad="88900" dist="25400" dir="5400000" algn="bl" rotWithShape="0">
              <a:srgbClr val="0B2338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Shape 10"/>
          <p:cNvSpPr/>
          <p:nvPr/>
        </p:nvSpPr>
        <p:spPr>
          <a:xfrm>
            <a:off x="822960" y="4343400"/>
            <a:ext cx="868680" cy="868680"/>
          </a:xfrm>
          <a:prstGeom prst="ellipse">
            <a:avLst/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2338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8817" y="4569257"/>
            <a:ext cx="416966" cy="41696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920240" y="4407408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Fehlendes Security-Wissen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841248" y="5257800"/>
            <a:ext cx="4873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Team muss verstehen, was eine Meldung bedeutet, um richtig zu reagieren.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309360" y="4023360"/>
            <a:ext cx="5440680" cy="2103120"/>
          </a:xfrm>
          <a:prstGeom prst="roundRect">
            <a:avLst>
              <a:gd name="adj" fmla="val 3913"/>
            </a:avLst>
          </a:prstGeom>
          <a:solidFill>
            <a:srgbClr val="EEF7FB"/>
          </a:solidFill>
          <a:ln/>
          <a:effectLst>
            <a:outerShdw blurRad="88900" dist="25400" dir="5400000" algn="bl" rotWithShape="0">
              <a:srgbClr val="0B2338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9" name="Shape 14"/>
          <p:cNvSpPr/>
          <p:nvPr/>
        </p:nvSpPr>
        <p:spPr>
          <a:xfrm>
            <a:off x="6583680" y="4343400"/>
            <a:ext cx="868680" cy="868680"/>
          </a:xfrm>
          <a:prstGeom prst="ellipse">
            <a:avLst/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2338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9537" y="4569257"/>
            <a:ext cx="416966" cy="41696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80960" y="4407408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Zu starkes Vertrauen in Tools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6601968" y="5257800"/>
            <a:ext cx="4873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Automatisierung ersetzt keine Architektur-Reviews und Bedrohungsmodelle.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in CI/CD-Pipelines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4114800"/>
            <a:ext cx="4206240" cy="4206240"/>
          </a:xfrm>
          <a:prstGeom prst="ellipse">
            <a:avLst/>
          </a:prstGeom>
          <a:solidFill>
            <a:srgbClr val="0E7BA6">
              <a:alpha val="16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9128455" y="502920"/>
            <a:ext cx="292608" cy="292608"/>
          </a:xfrm>
          <a:prstGeom prst="ellipse">
            <a:avLst/>
          </a:prstGeom>
          <a:solidFill>
            <a:srgbClr val="0F2A43"/>
          </a:solidFill>
          <a:ln w="22860">
            <a:solidFill>
              <a:srgbClr val="0E7BA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9472270" y="502920"/>
            <a:ext cx="292608" cy="292608"/>
          </a:xfrm>
          <a:prstGeom prst="ellipse">
            <a:avLst/>
          </a:prstGeom>
          <a:solidFill>
            <a:srgbClr val="0E7BA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9859975" y="437083"/>
            <a:ext cx="1901952" cy="541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8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Hochschule</a:t>
            </a:r>
            <a:endParaRPr lang="en-US" sz="84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8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Bonn-Rhein-Sieg</a:t>
            </a:r>
            <a:endParaRPr lang="en-US" sz="84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560" dirty="0">
                <a:solidFill>
                  <a:srgbClr val="A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Applied Sciences</a:t>
            </a:r>
            <a:endParaRPr lang="en-US" sz="840" dirty="0"/>
          </a:p>
        </p:txBody>
      </p:sp>
      <p:sp>
        <p:nvSpPr>
          <p:cNvPr id="6" name="Shape 4"/>
          <p:cNvSpPr/>
          <p:nvPr/>
        </p:nvSpPr>
        <p:spPr>
          <a:xfrm>
            <a:off x="822960" y="731520"/>
            <a:ext cx="868680" cy="868680"/>
          </a:xfrm>
          <a:prstGeom prst="ellipse">
            <a:avLst/>
          </a:prstGeom>
          <a:solidFill>
            <a:srgbClr val="0E7BA6"/>
          </a:solidFill>
          <a:ln/>
          <a:effectLst>
            <a:outerShdw blurRad="88900" dist="25400" dir="5400000" algn="bl" rotWithShape="0">
              <a:srgbClr val="0B2338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17" y="957377"/>
            <a:ext cx="416966" cy="41696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74520" y="84124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FAZIT &amp; AUSBLICK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68680" y="160020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Automatisierte Tests machen Sicherheitsprobleme </a:t>
            </a:r>
            <a:r>
              <a:rPr lang="en-US" sz="2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früher</a:t>
            </a: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sichtbar</a:t>
            </a: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wenn sie über die Pipeline verteilt werden.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68680" y="30632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Früh: Secret Scanning &amp; SAST  →  Build: Dependency Scanning  →  Test: DAST  →  vor Deployment: Container Scanning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68680" y="397764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2000"/>
              </a:lnSpc>
            </a:pPr>
            <a:r>
              <a:rPr lang="de-DE" sz="1600" dirty="0" err="1">
                <a:solidFill>
                  <a:schemeClr val="bg1"/>
                </a:solidFill>
              </a:rPr>
              <a:t>DevSecOps</a:t>
            </a:r>
            <a:r>
              <a:rPr lang="de-DE" sz="1600" dirty="0">
                <a:solidFill>
                  <a:schemeClr val="bg1"/>
                </a:solidFill>
              </a:rPr>
              <a:t> verbessert die Sicherheit durch frühe und regelmäßige Tests. Tools allein reichen aber nicht aus. Wichtig sind auch klare Prozesse und gute Zusammenarbeit.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15" name="Text 11"/>
          <p:cNvSpPr/>
          <p:nvPr/>
        </p:nvSpPr>
        <p:spPr>
          <a:xfrm>
            <a:off x="8869680" y="2697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8869680" y="3108960"/>
            <a:ext cx="2606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868680" y="5532120"/>
            <a:ext cx="3291840" cy="0"/>
          </a:xfrm>
          <a:prstGeom prst="line">
            <a:avLst/>
          </a:prstGeom>
          <a:noFill/>
          <a:ln w="19050">
            <a:solidFill>
              <a:srgbClr val="0E7BA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4"/>
          <p:cNvSpPr/>
          <p:nvPr/>
        </p:nvSpPr>
        <p:spPr>
          <a:xfrm>
            <a:off x="868680" y="56692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Vielen Dank für Ihre </a:t>
            </a:r>
            <a:r>
              <a:rPr lang="en-US" sz="1600" i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Aufmerksamkeit</a:t>
            </a: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ich freue mich auf Ihre Fragen.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1235</Words>
  <Application>Microsoft Office PowerPoint</Application>
  <PresentationFormat>Breitbild</PresentationFormat>
  <Paragraphs>130</Paragraphs>
  <Slides>9</Slides>
  <Notes>9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Automatisierte Sicherheitstests in CI/CD-Pipelines</dc:title>
  <dc:subject>PptxGenJS Presentation</dc:subject>
  <dc:creator>Firas Massoussi</dc:creator>
  <cp:lastModifiedBy>Omar ㅤ</cp:lastModifiedBy>
  <cp:revision>2</cp:revision>
  <dcterms:created xsi:type="dcterms:W3CDTF">2026-07-08T21:39:29Z</dcterms:created>
  <dcterms:modified xsi:type="dcterms:W3CDTF">2026-07-25T00:51:47Z</dcterms:modified>
</cp:coreProperties>
</file>